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heme Footer Band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1" name="Theme Footer Accent"/>
          <p:cNvSpPr/>
          <p:nvPr userDrawn="1"/>
        </p:nvSpPr>
        <p:spPr>
          <a:xfrm>
            <a:off x="0" y="666750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Restaurant Order and Kitchen Billing System</a:t>
            </a:r>
            <a:br>
              <a:rPr lang="en-IN" dirty="0"/>
            </a:br>
            <a:r>
              <a:rPr lang="en-IN" dirty="0"/>
              <a:t>Team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Gangavarapu Yasaswi Ram 	2620040139</a:t>
            </a:r>
          </a:p>
          <a:p>
            <a:r>
              <a:rPr lang="en-IN" dirty="0"/>
              <a:t>Dondapati Nikhil Reddy 	2620040119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Problem Context: </a:t>
            </a:r>
            <a:r>
              <a:rPr lang="en-IN" sz="2200" dirty="0"/>
              <a:t>Restaurant bills written and totaled by hand during peak hours cause calculation mistakes, long customer queues, and unrecorded paper slips.</a:t>
            </a:r>
          </a:p>
          <a:p>
            <a:r>
              <a:rPr lang="en-IN" sz="2200" b="1" dirty="0"/>
              <a:t>Upgraded Solution: </a:t>
            </a:r>
            <a:r>
              <a:rPr lang="en-IN" sz="2200" dirty="0"/>
              <a:t>A Java console application displays a 10-item menu across 4 categories, accepts item codes and quantities in a sentinel loop, and validates inputs using OOP encapsulation and exception handling.</a:t>
            </a:r>
          </a:p>
          <a:p>
            <a:r>
              <a:rPr lang="en-IN" sz="2200" b="1" dirty="0"/>
              <a:t>Automated Billing &amp; Promo: </a:t>
            </a:r>
            <a:r>
              <a:rPr lang="en-IN" sz="2200" dirty="0"/>
              <a:t>Computes running subtotals, applies the Enjoy100G6 coupon, adds 5% Service Tax and 18% GST, and awards a Rs 100 Group6 Theater movie voucher.</a:t>
            </a:r>
          </a:p>
          <a:p>
            <a:r>
              <a:rPr lang="en-IN" sz="2200" b="1" dirty="0"/>
              <a:t>Project Outcome (CO1–CO5): </a:t>
            </a:r>
            <a:r>
              <a:rPr lang="en-IN" sz="2200" dirty="0"/>
              <a:t>Delivers instant, error-free digital billing and saves every formatted receipt to Final_Bill_Receipt.txt using Java File I/O.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Handwritten Orders: </a:t>
            </a:r>
            <a:r>
              <a:rPr lang="en-IN" sz="2000" dirty="0"/>
              <a:t>Waitstaff write item names on paper pads, leading to illegible entries and missed dishes.</a:t>
            </a:r>
          </a:p>
          <a:p>
            <a:r>
              <a:rPr lang="en-IN" sz="2000" b="1" dirty="0"/>
              <a:t>Manual Tax Math: </a:t>
            </a:r>
            <a:r>
              <a:rPr lang="en-IN" sz="2000" dirty="0"/>
              <a:t>Cashiers compute 5% Service Tax and 18% GST on pocket calculators during rush hours.</a:t>
            </a:r>
          </a:p>
          <a:p>
            <a:r>
              <a:rPr lang="en-IN" sz="2000" b="1" dirty="0"/>
              <a:t>Zero Input Validation: </a:t>
            </a:r>
            <a:r>
              <a:rPr lang="en-IN" sz="2000" dirty="0"/>
              <a:t>No automatic check for invalid item codes, negative quantities, or duplicate coupon use.</a:t>
            </a:r>
          </a:p>
          <a:p>
            <a:r>
              <a:rPr lang="en-IN" sz="2000" b="1" dirty="0"/>
              <a:t>No Digital Record: </a:t>
            </a:r>
            <a:r>
              <a:rPr lang="en-IN" sz="2000" dirty="0"/>
              <a:t>Paper bills are easily lost, with no saved file for auditing daily orders.</a:t>
            </a:r>
          </a:p>
          <a:p>
            <a:r>
              <a:rPr lang="en-IN" sz="2000" b="1" dirty="0"/>
              <a:t>Market Gap: </a:t>
            </a:r>
            <a:r>
              <a:rPr lang="en-IN" sz="2000" dirty="0"/>
              <a:t>Commercial POS tools (Petpooja, Posist, Square, Toast) need subscriptions, internet and special hardware, so campus canteens and small eateries still bill on paper.</a:t>
            </a:r>
          </a:p>
          <a:p>
            <a:r>
              <a:rPr lang="en-IN" sz="2000" b="1" dirty="0"/>
              <a:t>Our Solution: </a:t>
            </a:r>
            <a:r>
              <a:rPr lang="en-IN" sz="2000" dirty="0"/>
              <a:t>A fast, zero-cost, offline Java billing system built strictly with CO1–CO5 concepts.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Computational Thinking: </a:t>
            </a:r>
            <a:r>
              <a:rPr lang="en-IN" sz="2200" dirty="0"/>
              <a:t>Designed a step-by-step algorithm, RAPTOR flowchart, and IPO model (Input: code/qty, Process: billing math, Output: receipt).</a:t>
            </a:r>
          </a:p>
          <a:p>
            <a:r>
              <a:rPr lang="en-IN" sz="2200" b="1" dirty="0"/>
              <a:t>Primitive Data Types: </a:t>
            </a:r>
            <a:r>
              <a:rPr lang="en-IN" sz="2200" dirty="0"/>
              <a:t>Used int for codes/quantities, double for prices/taxes, and boolean for loop and search flags.</a:t>
            </a:r>
          </a:p>
          <a:p>
            <a:r>
              <a:rPr lang="en-IN" sz="2200" b="1" dirty="0"/>
              <a:t>Operators &amp; Expressions: </a:t>
            </a:r>
            <a:r>
              <a:rPr lang="en-IN" sz="2200" dirty="0"/>
              <a:t>Applied arithmetic (*, +, -), relational (==, &gt;, &lt;=), and logical (&amp;&amp;, !) operators.</a:t>
            </a:r>
          </a:p>
          <a:p>
            <a:r>
              <a:rPr lang="en-IN" sz="2200" b="1" dirty="0"/>
              <a:t>Sequential Console I/O: </a:t>
            </a:r>
            <a:r>
              <a:rPr lang="en-IN" sz="2200" dirty="0"/>
              <a:t>Used Scanner (nextInt, nextLine) and System.out.println with string concatenation.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Switch-Case Navigation: </a:t>
            </a:r>
            <a:r>
              <a:rPr lang="en-IN" sz="2200" dirty="0"/>
              <a:t>Used switch(type) with break and default in showMenu() to filter 4 food categories.</a:t>
            </a:r>
          </a:p>
          <a:p>
            <a:r>
              <a:rPr lang="en-IN" sz="2200" b="1" dirty="0"/>
              <a:t>Conditional Branching: </a:t>
            </a:r>
            <a:r>
              <a:rPr lang="en-IN" sz="2200" dirty="0"/>
              <a:t>Applied if-else statements for item lookup verification, coupon discount rules, and empty-order checks.</a:t>
            </a:r>
          </a:p>
          <a:p>
            <a:r>
              <a:rPr lang="en-IN" sz="2200" b="1" dirty="0"/>
              <a:t>Sentinel While Loop: </a:t>
            </a:r>
            <a:r>
              <a:rPr lang="en-IN" sz="2200" dirty="0"/>
              <a:t>Controlled continuous order entry using while(ordering) until sentinel value 0 is entered.</a:t>
            </a:r>
          </a:p>
          <a:p>
            <a:r>
              <a:rPr lang="en-IN" sz="2200" b="1" dirty="0"/>
              <a:t>Loop Control: </a:t>
            </a:r>
            <a:r>
              <a:rPr lang="en-IN" sz="2200" dirty="0"/>
              <a:t>Used continue when 0 is entered to skip the quantity prompt and proceed directly to billing.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Modular Decomposition: </a:t>
            </a:r>
            <a:r>
              <a:rPr lang="en-IN" sz="2200" dirty="0"/>
              <a:t>Divided logic into displayCategories(), showMenu(), addOrder(), and printFinalBill().</a:t>
            </a:r>
          </a:p>
          <a:p>
            <a:r>
              <a:rPr lang="en-IN" sz="2200" b="1" dirty="0"/>
              <a:t>Method Overloading: </a:t>
            </a:r>
            <a:r>
              <a:rPr lang="en-IN" sz="2200" dirty="0"/>
              <a:t>Implemented overloaded addOrder(int code) and addOrder(int code, int qty) methods.</a:t>
            </a:r>
          </a:p>
          <a:p>
            <a:r>
              <a:rPr lang="en-IN" sz="2200" b="1" dirty="0"/>
              <a:t>1D Parallel Arrays: </a:t>
            </a:r>
            <a:r>
              <a:rPr lang="en-IN" sz="2200" dirty="0"/>
              <a:t>Stored item_code[], item_name[], item_price[], and item_qty[] across 10 homogeneous elements.</a:t>
            </a:r>
          </a:p>
          <a:p>
            <a:r>
              <a:rPr lang="en-IN" sz="2200" b="1" dirty="0"/>
              <a:t>Array Patterns: </a:t>
            </a:r>
            <a:r>
              <a:rPr lang="en-IN" sz="2200" dirty="0"/>
              <a:t>Used index traversal, linear search by item code, and running total summation.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Classes, Objects &amp; Constructors: </a:t>
            </a:r>
            <a:r>
              <a:rPr lang="en-IN" sz="2200" dirty="0"/>
              <a:t>Created MenuItem class with default and parameterized constructors using the this keyword.</a:t>
            </a:r>
          </a:p>
          <a:p>
            <a:r>
              <a:rPr lang="en-IN" sz="2200" b="1" dirty="0"/>
              <a:t>Encapsulation &amp; Data Hiding: </a:t>
            </a:r>
            <a:r>
              <a:rPr lang="en-IN" sz="2200" dirty="0"/>
              <a:t>Declared private fields (code, name, price, qty) accessed through public getter/setter methods.</a:t>
            </a:r>
          </a:p>
          <a:p>
            <a:r>
              <a:rPr lang="en-IN" sz="2200" b="1" dirty="0"/>
              <a:t>Inheritance, Interfaces &amp; Static: </a:t>
            </a:r>
            <a:r>
              <a:rPr lang="en-IN" sz="2200" dirty="0"/>
              <a:t>Extended BaseRestaurant (static final tax rates) and implemented BillOperations interface with @Override toString().</a:t>
            </a:r>
          </a:p>
          <a:p>
            <a:r>
              <a:rPr lang="en-IN" sz="2200" b="1" dirty="0"/>
              <a:t>Robust Exception Handling: </a:t>
            </a:r>
            <a:r>
              <a:rPr lang="en-IN" sz="2200" dirty="0"/>
              <a:t>Used try-catch-finally for InputMismatchException and threw IllegalArgumentException for negative quantities.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String Processing APIs: </a:t>
            </a:r>
            <a:r>
              <a:rPr lang="en-IN" sz="2200" dirty="0"/>
              <a:t>Applied trim(), toUpperCase(), length(), and equalsIgnoreCase() to validate customer names and coupon Enjoy100G6.</a:t>
            </a:r>
          </a:p>
          <a:p>
            <a:r>
              <a:rPr lang="en-IN" sz="2200" b="1" dirty="0"/>
              <a:t>Mutable Text with StringBuilder: </a:t>
            </a:r>
            <a:r>
              <a:rPr lang="en-IN" sz="2200" dirty="0"/>
              <a:t>Constructed the multi-line itemized receipt efficiently using StringBuilder.append().</a:t>
            </a:r>
          </a:p>
          <a:p>
            <a:r>
              <a:rPr lang="en-IN" sz="2200" b="1" dirty="0"/>
              <a:t>Standard Library Algorithms: </a:t>
            </a:r>
            <a:r>
              <a:rPr lang="en-IN" sz="2200" dirty="0"/>
              <a:t>Sorted item codes with Arrays.sort() and verified item existence using Arrays.binarySearch().</a:t>
            </a:r>
          </a:p>
          <a:p>
            <a:r>
              <a:rPr lang="en-IN" sz="2200" b="1" dirty="0"/>
              <a:t>File Persistence (java.nio.file): </a:t>
            </a:r>
            <a:r>
              <a:rPr lang="en-IN" sz="2200" dirty="0"/>
              <a:t>Saved and verified Final_Bill_Receipt.txt using Path, Files, BufferedWriter, and BufferedReader with try-with-resources.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/>
              <a:t>Syllabus Scope: </a:t>
            </a:r>
            <a:r>
              <a:rPr lang="en-IN" sz="2200" dirty="0"/>
              <a:t>As per project instructions, this project covers strictly CO1 to CO5.</a:t>
            </a:r>
          </a:p>
          <a:p>
            <a:r>
              <a:rPr lang="en-IN" sz="2200" b="1" dirty="0"/>
              <a:t>Not Used (CO6): </a:t>
            </a:r>
            <a:r>
              <a:rPr lang="en-IN" sz="2200" dirty="0"/>
              <a:t>Collections Framework, ArrayList, HashMap, Lambda Expressions, and Stream APIs are intentionally excluded.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Outcome: </a:t>
            </a:r>
            <a:r>
              <a:rPr lang="en-IN" sz="2000" dirty="0"/>
              <a:t>Built a Java console Restaurant Billing System using only CO1–CO5 concepts.</a:t>
            </a:r>
          </a:p>
          <a:p>
            <a:r>
              <a:rPr lang="en-IN" sz="2000" b="1" dirty="0"/>
              <a:t>Impact: </a:t>
            </a:r>
            <a:r>
              <a:rPr lang="en-IN" sz="2000" dirty="0"/>
              <a:t>Replaces handwritten slips and manual tax math with automated menu ordering, input validation, 5% Service Tax, 18% GST, and the Enjoy100G6 coupon.</a:t>
            </a:r>
          </a:p>
          <a:p>
            <a:r>
              <a:rPr lang="en-IN" sz="2000" b="1" dirty="0"/>
              <a:t>Sample Run: </a:t>
            </a:r>
            <a:r>
              <a:rPr lang="en-IN" sz="2000" dirty="0"/>
              <a:t>2 x Chicken Biryani gives Subtotal Rs 440.0, Coupon -Rs 50.0, Service Tax Rs 19.5, GST Rs 70.2, Final Total Rs 479.7.</a:t>
            </a:r>
          </a:p>
          <a:p>
            <a:r>
              <a:rPr lang="en-IN" sz="2000" b="1" dirty="0"/>
              <a:t>Persistence: </a:t>
            </a:r>
            <a:r>
              <a:rPr lang="en-IN" sz="2000" dirty="0"/>
              <a:t>Every receipt is saved to Final_Bill_Receipt.txt through File I/O, giving a digital record for auditing.</a:t>
            </a:r>
          </a:p>
          <a:p>
            <a:r>
              <a:rPr lang="en-IN" sz="2000" b="1" dirty="0"/>
              <a:t>Gap Bridged: </a:t>
            </a:r>
            <a:r>
              <a:rPr lang="en-IN" sz="2000" dirty="0"/>
              <a:t>A fast, zero-cost, offline billing option for campus canteens and small eateries.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pic>
        <p:nvPicPr>
          <p:cNvPr id="6" name="Console order workflow screenshot" descr="Console order workflow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983480" cy="3537055"/>
          </a:xfrm>
          <a:prstGeom prst="rect">
            <a:avLst/>
          </a:prstGeom>
        </p:spPr>
      </p:pic>
      <p:pic>
        <p:nvPicPr>
          <p:cNvPr id="7" name="Final bill and file receipt screenshot" descr="Final bill and file receip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0" y="1825625"/>
            <a:ext cx="4983480" cy="20177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ice Garden">
      <a:dk1>
        <a:srgbClr val="2B1B17"/>
      </a:dk1>
      <a:lt1>
        <a:srgbClr val="FFFFFF"/>
      </a:lt1>
      <a:dk2>
        <a:srgbClr val="7A1F2B"/>
      </a:dk2>
      <a:lt2>
        <a:srgbClr val="FFF6E8"/>
      </a:lt2>
      <a:accent1>
        <a:srgbClr val="8E1B2E"/>
      </a:accent1>
      <a:accent2>
        <a:srgbClr val="E9A21B"/>
      </a:accent2>
      <a:accent3>
        <a:srgbClr val="2F7D4F"/>
      </a:accent3>
      <a:accent4>
        <a:srgbClr val="C8553D"/>
      </a:accent4>
      <a:accent5>
        <a:srgbClr val="6B4423"/>
      </a:accent5>
      <a:accent6>
        <a:srgbClr val="F2C14E"/>
      </a:accent6>
      <a:hlink>
        <a:srgbClr val="8E1B2E"/>
      </a:hlink>
      <a:folHlink>
        <a:srgbClr val="6B4423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