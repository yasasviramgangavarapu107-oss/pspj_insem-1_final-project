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70" r:id="rId19"/>
    <p:sldId id="269" r:id="rId18"/>
    <p:sldId id="268" r:id="rId1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7" Type="http://schemas.openxmlformats.org/officeDocument/2006/relationships/slide" Target="slides/slide13.xml"/>
  <Relationship Id="rId18" Type="http://schemas.openxmlformats.org/officeDocument/2006/relationships/slide" Target="slides/slide14.xml"/>
  <Relationship Id="rId19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6ddccb2f81615c0f_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h6ddccb2f81615c0f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h6ddccb2f81615c0f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7A77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A7776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A7776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A7776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A7776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A7776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A7776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A7776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A7776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25" y="-164593"/>
            <a:ext cx="1215279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666750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7A777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mbria"/>
              <a:buNone/>
            </a:pPr>
            <a:r>
              <a:rPr lang="en-IN"/>
              <a:t>Restaurant Order and Kitchen Billing System</a:t>
            </a:r>
            <a:br>
              <a:rPr lang="en-IN"/>
            </a:br>
            <a:r>
              <a:rPr lang="en-IN"/>
              <a:t>Team 5</a:t>
            </a:r>
            <a:endParaRPr/>
          </a:p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Gangavarapu Yasaswi Ram 	2620040139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/>
              <a:t>Dondapati Nikhil Reddy 	2620040119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Abstract</a:t>
            </a:r>
            <a:endParaRPr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Problem Context: </a:t>
            </a:r>
            <a:r>
              <a:rPr lang="en-IN" sz="2200"/>
              <a:t>Restaurant bills written and totaled by hand during peak hours cause calculation mistakes, long customer queues, and unrecorded paper slips.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Upgraded Solution: </a:t>
            </a:r>
            <a:r>
              <a:rPr lang="en-IN" sz="2200"/>
              <a:t>A Java console application displays a 10-item menu across 4 categories, accepts item codes and quantities in a sentinel loop, and validates inputs using OOP encapsulation and exception handling.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Automated Billing &amp; Promo: </a:t>
            </a:r>
            <a:r>
              <a:rPr lang="en-IN" sz="2200"/>
              <a:t>Computes running subtotals, applies the Enjoy100G6 coupon, adds 5% Service Tax and 18% GST, and awards a Rs 100 Group6 Theater movie voucher.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Project Outcome (CO1–CO5): </a:t>
            </a:r>
            <a:r>
              <a:rPr lang="en-IN" sz="2200"/>
              <a:t>Delivers instant, error-free digital billing and saves every formatted receipt to Final_Bill_Receipt.txt using Java File I/O.</a:t>
            </a:r>
            <a:endParaRPr/>
          </a:p>
        </p:txBody>
      </p:sp>
      <p:sp>
        <p:nvSpPr>
          <p:cNvPr id="110" name="Google Shape;11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Understanding Problem Statement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Handwritten Orders: </a:t>
            </a:r>
            <a:r>
              <a:rPr lang="en-IN" sz="2000"/>
              <a:t>Waitstaff write item names on paper pads, leading to illegible entries and missed dishes.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Manual Tax Math: </a:t>
            </a:r>
            <a:r>
              <a:rPr lang="en-IN" sz="2000"/>
              <a:t>Cashiers compute 5% Service Tax and 18% GST on pocket calculators during rush hours.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Zero Input Validation: </a:t>
            </a:r>
            <a:r>
              <a:rPr lang="en-IN" sz="2000"/>
              <a:t>No automatic check for invalid item codes, negative quantities, or duplicate coupon use.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No Digital Record: </a:t>
            </a:r>
            <a:r>
              <a:rPr lang="en-IN" sz="2000"/>
              <a:t>Paper bills are easily lost, with no saved file for auditing daily orders.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Market Gap: </a:t>
            </a:r>
            <a:r>
              <a:rPr lang="en-IN" sz="2000"/>
              <a:t>Commercial POS tools (Petpooja, Posist, Square, Toast) need subscriptions, internet and special hardware, so campus canteens and small eateries still bill on paper.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Our Solution: </a:t>
            </a:r>
            <a:r>
              <a:rPr lang="en-IN" sz="2000"/>
              <a:t>A fast, zero-cost, offline Java billing system built strictly with CO1–CO5 concepts.</a:t>
            </a:r>
            <a:endParaRPr/>
          </a:p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CO 1 Topics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Computational Thinking: </a:t>
            </a:r>
            <a:r>
              <a:rPr lang="en-IN" sz="2200"/>
              <a:t>Designed a step-by-step algorithm, RAPTOR flowchart, and IPO model (Input: code/qty, Process: billing math, Output: receipt).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Primitive Data Types: </a:t>
            </a:r>
            <a:r>
              <a:rPr lang="en-IN" sz="2200"/>
              <a:t>Used int for codes/quantities, double for prices/taxes, and boolean for loop and search flags.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Operators &amp; Expressions: </a:t>
            </a:r>
            <a:r>
              <a:rPr lang="en-IN" sz="2200"/>
              <a:t>Applied arithmetic (*, +, -), relational (==, &gt;, &lt;=), and logical (&amp;&amp;, !) operators.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Sequential Console I/O: </a:t>
            </a:r>
            <a:r>
              <a:rPr lang="en-IN" sz="2200"/>
              <a:t>Used Scanner (nextInt, nextLine) and System.out.println with string concatenation.</a:t>
            </a:r>
            <a:endParaRPr/>
          </a:p>
        </p:txBody>
      </p:sp>
      <p:sp>
        <p:nvSpPr>
          <p:cNvPr id="126" name="Google Shape;1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Co 2 TOPICS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Switch-Case Navigation: </a:t>
            </a:r>
            <a:r>
              <a:rPr lang="en-IN" sz="2200"/>
              <a:t>Used switch(type) with break and default in showMenu() to filter 4 food categories.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Conditional Branching: </a:t>
            </a:r>
            <a:r>
              <a:rPr lang="en-IN" sz="2200"/>
              <a:t>Applied if-else statements for item lookup verification, coupon discount rules, and empty-order checks.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Sentinel While Loop: </a:t>
            </a:r>
            <a:r>
              <a:rPr lang="en-IN" sz="2200"/>
              <a:t>Controlled continuous order entry using while(ordering) until sentinel value 0 is entered.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Loop Control: </a:t>
            </a:r>
            <a:r>
              <a:rPr lang="en-IN" sz="2200"/>
              <a:t>Used continue when 0 is entered to skip the quantity prompt and proceed directly to billing.</a:t>
            </a:r>
            <a:endParaRPr/>
          </a:p>
        </p:txBody>
      </p:sp>
      <p:sp>
        <p:nvSpPr>
          <p:cNvPr id="134" name="Google Shape;13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CO 3 Topics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Modular Decomposition: </a:t>
            </a:r>
            <a:r>
              <a:rPr lang="en-IN" sz="2200"/>
              <a:t>Divided logic into displayCategories(), showMenu(), addOrder(), and printFinalBill().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Method Overloading: </a:t>
            </a:r>
            <a:r>
              <a:rPr lang="en-IN" sz="2200"/>
              <a:t>Implemented overloaded addOrder(int code) and addOrder(int code, int qty) methods.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1D Parallel Arrays: </a:t>
            </a:r>
            <a:r>
              <a:rPr lang="en-IN" sz="2200"/>
              <a:t>Stored item_code[], item_name[], item_price[], and item_qty[] across 10 homogeneous elements.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Array Patterns: </a:t>
            </a:r>
            <a:r>
              <a:rPr lang="en-IN" sz="2200"/>
              <a:t>Used index traversal, linear search by item code, and running total summation.</a:t>
            </a:r>
            <a:endParaRPr/>
          </a:p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CO 4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Classes, Objects &amp; Constructors: </a:t>
            </a:r>
            <a:r>
              <a:rPr lang="en-IN" sz="2200"/>
              <a:t>Created MenuItem class with default and parameterized constructors using the this keyword.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Encapsulation &amp; Data Hiding: </a:t>
            </a:r>
            <a:r>
              <a:rPr lang="en-IN" sz="2200"/>
              <a:t>Declared private fields (code, name, price, qty) accessed through public getter/setter methods.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Inheritance, Interfaces &amp; Static: </a:t>
            </a:r>
            <a:r>
              <a:rPr lang="en-IN" sz="2200"/>
              <a:t>Extended BaseRestaurant (static final tax rates) and implemented BillOperations interface with @Override toString().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Robust Exception Handling: </a:t>
            </a:r>
            <a:r>
              <a:rPr lang="en-IN" sz="2200"/>
              <a:t>Used try-catch-finally for InputMismatchException and threw IllegalArgumentException for negative quantities.</a:t>
            </a:r>
            <a:endParaRPr/>
          </a:p>
        </p:txBody>
      </p:sp>
      <p:sp>
        <p:nvSpPr>
          <p:cNvPr id="150" name="Google Shape;15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CO 5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String Processing APIs: </a:t>
            </a:r>
            <a:r>
              <a:rPr lang="en-IN" sz="2200"/>
              <a:t>Applied trim(), toUpperCase(), length(), and equalsIgnoreCase() to validate customer names and coupon Enjoy100G6.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Mutable Text with StringBuilder: </a:t>
            </a:r>
            <a:r>
              <a:rPr lang="en-IN" sz="2200"/>
              <a:t>Constructed the multi-line itemized receipt efficiently using StringBuilder.append().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Standard Library Algorithms: </a:t>
            </a:r>
            <a:r>
              <a:rPr lang="en-IN" sz="2200"/>
              <a:t>Sorted item codes with Arrays.sort() and verified item existence using Arrays.binarySearch().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File Persistence (java.nio.file): </a:t>
            </a:r>
            <a:r>
              <a:rPr lang="en-IN" sz="2200"/>
              <a:t>Saved and verified Final_Bill_Receipt.txt using Path, Files, BufferedWriter, and BufferedReader with try-with-resources.</a:t>
            </a:r>
            <a:endParaRPr/>
          </a:p>
        </p:txBody>
      </p:sp>
      <p:sp>
        <p:nvSpPr>
          <p:cNvPr id="158" name="Google Shape;1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548640" y="320040"/>
            <a:ext cx="78639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 Flow and Topics Used</a:t>
            </a:r>
            <a:endParaRPr b="1" i="0" sz="28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8778240" y="45720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IN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■ CO1  </a:t>
            </a:r>
            <a:r>
              <a:rPr b="1" i="0" lang="en-IN" sz="13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■ CO2  </a:t>
            </a:r>
            <a:r>
              <a:rPr b="1" i="0" lang="en-IN" sz="13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■ CO3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411480" y="1165860"/>
            <a:ext cx="1737300" cy="4116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2651760" y="112014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categories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4892040" y="1120140"/>
            <a:ext cx="1737300" cy="502800"/>
          </a:xfrm>
          <a:prstGeom prst="parallelogram">
            <a:avLst>
              <a:gd fmla="val 25000" name="adj"/>
            </a:avLst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type (1 to 4)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7132320" y="100584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valid?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9372600" y="112014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menu (switch)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2"/>
          <p:cNvCxnSpPr/>
          <p:nvPr/>
        </p:nvCxnSpPr>
        <p:spPr>
          <a:xfrm>
            <a:off x="214884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22"/>
          <p:cNvCxnSpPr/>
          <p:nvPr/>
        </p:nvCxnSpPr>
        <p:spPr>
          <a:xfrm>
            <a:off x="438912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22"/>
          <p:cNvCxnSpPr/>
          <p:nvPr/>
        </p:nvCxnSpPr>
        <p:spPr>
          <a:xfrm>
            <a:off x="662940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22"/>
          <p:cNvCxnSpPr/>
          <p:nvPr/>
        </p:nvCxnSpPr>
        <p:spPr>
          <a:xfrm>
            <a:off x="886968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22"/>
          <p:cNvSpPr txBox="1"/>
          <p:nvPr/>
        </p:nvSpPr>
        <p:spPr>
          <a:xfrm>
            <a:off x="8915400" y="112471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4892040" y="178308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Not 1 to 4: prints Wrong Type Selected, carries on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9372600" y="2171700"/>
            <a:ext cx="1737300" cy="502800"/>
          </a:xfrm>
          <a:prstGeom prst="parallelogram">
            <a:avLst>
              <a:gd fmla="val 25000" name="adj"/>
            </a:avLst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item code (0 = bill)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7132320" y="205740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Code = 0?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4892040" y="2171700"/>
            <a:ext cx="1737300" cy="502800"/>
          </a:xfrm>
          <a:prstGeom prst="parallelogram">
            <a:avLst>
              <a:gd fmla="val 25000" name="adj"/>
            </a:avLst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quantity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2651760" y="217170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 code in array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11480" y="205740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22"/>
          <p:cNvCxnSpPr/>
          <p:nvPr/>
        </p:nvCxnSpPr>
        <p:spPr>
          <a:xfrm>
            <a:off x="10241280" y="1623060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22"/>
          <p:cNvCxnSpPr/>
          <p:nvPr/>
        </p:nvCxnSpPr>
        <p:spPr>
          <a:xfrm rot="10800000">
            <a:off x="886980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22"/>
          <p:cNvCxnSpPr/>
          <p:nvPr/>
        </p:nvCxnSpPr>
        <p:spPr>
          <a:xfrm rot="10800000">
            <a:off x="662952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22"/>
          <p:cNvCxnSpPr/>
          <p:nvPr/>
        </p:nvCxnSpPr>
        <p:spPr>
          <a:xfrm rot="10800000">
            <a:off x="438924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22"/>
          <p:cNvCxnSpPr/>
          <p:nvPr/>
        </p:nvCxnSpPr>
        <p:spPr>
          <a:xfrm rot="10800000">
            <a:off x="214896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22"/>
          <p:cNvSpPr txBox="1"/>
          <p:nvPr/>
        </p:nvSpPr>
        <p:spPr>
          <a:xfrm>
            <a:off x="6858000" y="217627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1475720" y="2240280"/>
            <a:ext cx="365700" cy="3657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0" name="Google Shape;190;p22"/>
          <p:cNvCxnSpPr/>
          <p:nvPr/>
        </p:nvCxnSpPr>
        <p:spPr>
          <a:xfrm rot="10800000">
            <a:off x="11110020" y="2423160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22"/>
          <p:cNvSpPr txBox="1"/>
          <p:nvPr/>
        </p:nvSpPr>
        <p:spPr>
          <a:xfrm>
            <a:off x="411480" y="326898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quantity and subtotal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2651760" y="326898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 Invalid Code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2"/>
          <p:cNvCxnSpPr/>
          <p:nvPr/>
        </p:nvCxnSpPr>
        <p:spPr>
          <a:xfrm>
            <a:off x="1280160" y="2788920"/>
            <a:ext cx="0" cy="4800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22"/>
          <p:cNvSpPr txBox="1"/>
          <p:nvPr/>
        </p:nvSpPr>
        <p:spPr>
          <a:xfrm>
            <a:off x="1353312" y="281635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2"/>
          <p:cNvCxnSpPr/>
          <p:nvPr/>
        </p:nvCxnSpPr>
        <p:spPr>
          <a:xfrm>
            <a:off x="1280160" y="2788920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22"/>
          <p:cNvCxnSpPr/>
          <p:nvPr/>
        </p:nvCxnSpPr>
        <p:spPr>
          <a:xfrm>
            <a:off x="1280160" y="2926080"/>
            <a:ext cx="22404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22"/>
          <p:cNvCxnSpPr/>
          <p:nvPr/>
        </p:nvCxnSpPr>
        <p:spPr>
          <a:xfrm>
            <a:off x="3520440" y="2926080"/>
            <a:ext cx="0" cy="3429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>
            <a:off x="1828800" y="2944368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22"/>
          <p:cNvCxnSpPr/>
          <p:nvPr/>
        </p:nvCxnSpPr>
        <p:spPr>
          <a:xfrm>
            <a:off x="1280160" y="3771900"/>
            <a:ext cx="0" cy="6171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22"/>
          <p:cNvCxnSpPr/>
          <p:nvPr/>
        </p:nvCxnSpPr>
        <p:spPr>
          <a:xfrm>
            <a:off x="3520440" y="3771900"/>
            <a:ext cx="0" cy="6171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22"/>
          <p:cNvSpPr/>
          <p:nvPr/>
        </p:nvSpPr>
        <p:spPr>
          <a:xfrm>
            <a:off x="1097280" y="4389120"/>
            <a:ext cx="365700" cy="3657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337560" y="4389120"/>
            <a:ext cx="365700" cy="3657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7132320" y="315468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&gt; 0?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9372600" y="326898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 bill: items, 5% service tax, 18% GST, coupon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7132320" y="432054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Print: No items were ordered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9372600" y="4366260"/>
            <a:ext cx="1737300" cy="4116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22"/>
          <p:cNvCxnSpPr/>
          <p:nvPr/>
        </p:nvCxnSpPr>
        <p:spPr>
          <a:xfrm>
            <a:off x="8001000" y="2788920"/>
            <a:ext cx="0" cy="3657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22"/>
          <p:cNvSpPr txBox="1"/>
          <p:nvPr/>
        </p:nvSpPr>
        <p:spPr>
          <a:xfrm>
            <a:off x="8074152" y="281635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8869680" y="352044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8915400" y="327355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22"/>
          <p:cNvCxnSpPr/>
          <p:nvPr/>
        </p:nvCxnSpPr>
        <p:spPr>
          <a:xfrm>
            <a:off x="8001000" y="3886200"/>
            <a:ext cx="0" cy="4344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22"/>
          <p:cNvSpPr txBox="1"/>
          <p:nvPr/>
        </p:nvSpPr>
        <p:spPr>
          <a:xfrm>
            <a:off x="8074152" y="391363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2"/>
          <p:cNvCxnSpPr/>
          <p:nvPr/>
        </p:nvCxnSpPr>
        <p:spPr>
          <a:xfrm>
            <a:off x="10241280" y="3771900"/>
            <a:ext cx="0" cy="5943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22"/>
          <p:cNvCxnSpPr/>
          <p:nvPr/>
        </p:nvCxnSpPr>
        <p:spPr>
          <a:xfrm>
            <a:off x="8869680" y="45720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22"/>
          <p:cNvSpPr/>
          <p:nvPr/>
        </p:nvSpPr>
        <p:spPr>
          <a:xfrm>
            <a:off x="411480" y="5120640"/>
            <a:ext cx="3657600" cy="14631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48640" y="523951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731520" y="523951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914400" y="523951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143000" y="517550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0" i="0" lang="en-IN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CO1 | Basics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48640" y="5468112"/>
            <a:ext cx="33834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Algorithm and flowchart first, IPO model (input: category, code, quantity; output: bill), int, double and boolean, arithmetic for price x quantity and the taxes, Scanner input and println output.</a:t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251960" y="5120640"/>
            <a:ext cx="3657600" cy="14631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4389120" y="523951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4572000" y="523951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4754880" y="523951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983480" y="517550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IN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CO2 | Control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389120" y="5468112"/>
            <a:ext cx="33834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Switch-case with default and break for the menu, if-else for found or invalid and total &gt; 0, while loops for the menu, the ordering loop that ends on 0 and the search, plus a boolean flag.</a:t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8092440" y="5120640"/>
            <a:ext cx="3657600" cy="14631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8229600" y="523951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8412480" y="523951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8595360" y="523951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823960" y="517550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1100"/>
              <a:buFont typeface="Consolas"/>
              <a:buNone/>
            </a:pPr>
            <a:r>
              <a:rPr b="0" i="0" lang="en-IN" sz="11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CO3 |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8229600" y="5468112"/>
            <a:ext cx="33834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 methods split the program into parts, four parallel 1D arrays hold the data, and we use traversal, linear search by item code and a running total.</a:t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Outcome: </a:t>
            </a:r>
            <a:r>
              <a:rPr lang="en-IN" sz="2000"/>
              <a:t>Built a Java console Restaurant Billing System using only CO1–CO5 concepts.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Impact: </a:t>
            </a:r>
            <a:r>
              <a:rPr lang="en-IN" sz="2000"/>
              <a:t>Replaces handwritten slips and manual tax math with automated menu ordering, input validation, 5% Service Tax, 18% GST, and the Enjoy100G6 coupon.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Sample Run: </a:t>
            </a:r>
            <a:r>
              <a:rPr lang="en-IN" sz="2000"/>
              <a:t>2 x Chicken Biryani gives Subtotal Rs 440.0, Coupon -Rs 50.0, Service Tax Rs 19.5, GST Rs 70.2, Final Total Rs 479.7.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Persistence: </a:t>
            </a:r>
            <a:r>
              <a:rPr lang="en-IN" sz="2000"/>
              <a:t>Every receipt is saved to Final_Bill_Receipt.txt through File I/O, giving a digital record for auditing.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Gap Bridged: </a:t>
            </a:r>
            <a:r>
              <a:rPr lang="en-IN" sz="2000"/>
              <a:t>A fast, zero-cost, offline billing option for campus canteens and small eateries.</a:t>
            </a:r>
            <a:endParaRPr/>
          </a:p>
        </p:txBody>
      </p:sp>
      <p:sp>
        <p:nvSpPr>
          <p:cNvPr id="239" name="Google Shape;23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240" name="Google Shape;24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Screen Shots</a:t>
            </a:r>
            <a:endParaRPr/>
          </a:p>
        </p:txBody>
      </p:sp>
      <p:pic>
        <p:nvPicPr>
          <p:cNvPr descr="Console order workflow screenshot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5625"/>
            <a:ext cx="4983480" cy="353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nal bill and file receipt screenshot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0320" y="1825625"/>
            <a:ext cx="4983480" cy="201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Geo Tag Photo and git hub link</a:t>
            </a:r>
            <a:endParaRPr/>
          </a:p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257" name="Google Shape;2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Project Outcomes (CO1 to CO5)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CO1 (Basics): </a:t>
            </a:r>
            <a:r>
              <a:rPr lang="en-IN" sz="2000"/>
              <a:t>Algorithm, flowchart, IPO model, data types, operators, Scanner input and println output.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CO2 (Control Flow): </a:t>
            </a:r>
            <a:r>
              <a:rPr lang="en-IN" sz="2000"/>
              <a:t>switch-case, if-else, sentinel while loop and continue.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CO3 (Structure): </a:t>
            </a:r>
            <a:r>
              <a:rPr lang="en-IN" sz="2000"/>
              <a:t>Methods, method overloading, 1D parallel arrays, linear search and running total.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CO4 (OOP): </a:t>
            </a:r>
            <a:r>
              <a:rPr lang="en-IN" sz="2000"/>
              <a:t>Classes, constructors, encapsulation, inheritance, interface, static and exception handling.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CO5 (Libraries): </a:t>
            </a:r>
            <a:r>
              <a:rPr lang="en-IN" sz="2000"/>
              <a:t>String methods, StringBuilder, Arrays.sort, binarySearch and file I/O with java.nio.file.</a:t>
            </a:r>
            <a:endParaRPr/>
          </a:p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Proposed System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Automated Java Billing: </a:t>
            </a:r>
            <a:r>
              <a:rPr lang="en-IN" sz="2000"/>
              <a:t>A console app shows a 10-item menu in 4 categories and takes item codes and quantities until 0 is entered.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Zero-Cost and Offline: </a:t>
            </a:r>
            <a:r>
              <a:rPr lang="en-IN" sz="2000"/>
              <a:t>Runs on any computer with Java, with no subscription, internet or special hardware, ideal for campus canteens.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Input Validation: </a:t>
            </a:r>
            <a:r>
              <a:rPr lang="en-IN" sz="2000"/>
              <a:t>Invalid item codes, wrong categories, and zero or negative quantities are caught using exception handling.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Automatic Tax and Coupon: </a:t>
            </a:r>
            <a:r>
              <a:rPr lang="en-IN" sz="2000"/>
              <a:t>Adds 5% Service Tax and 18% GST, applies the Enjoy100G6 coupon, and awards a Rs 100 Group6 Theater voucher.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Saved Digital Receipt: </a:t>
            </a:r>
            <a:r>
              <a:rPr lang="en-IN" sz="2000"/>
              <a:t>Every itemized bill is saved to Final_Bill_Receipt.txt using Java File I/O for easy auditing.</a:t>
            </a:r>
            <a:endParaRPr/>
          </a:p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mbria"/>
              <a:buNone/>
            </a:pPr>
            <a:r>
              <a:rPr lang="en-IN"/>
              <a:t>Existing System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Manual Paper Billing: </a:t>
            </a:r>
            <a:r>
              <a:rPr lang="en-IN" sz="2000"/>
              <a:t>Waitstaff write orders on paper pads and cashiers total the bill by hand or on a pocket calculator.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Commercial POS Software: </a:t>
            </a:r>
            <a:r>
              <a:rPr lang="en-IN" sz="2000"/>
              <a:t>Petpooja, Posist, Square and Toast offer full billing, but need paid subscriptions, internet and special hardware.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Spreadsheet Billing: </a:t>
            </a:r>
            <a:r>
              <a:rPr lang="en-IN" sz="2000"/>
              <a:t>Some small eateries type totals into Excel sheets, which has no menu validation and no coupon rules.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Error-Prone Taxes: </a:t>
            </a:r>
            <a:r>
              <a:rPr lang="en-IN" sz="2000"/>
              <a:t>5% Service Tax and 18% GST are added by hand, so rush-hour mistakes and wrong totals are common.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000"/>
              <a:t>No Reliable Record: </a:t>
            </a:r>
            <a:r>
              <a:rPr lang="en-IN" sz="2000"/>
              <a:t>Paper slips get lost and there is no saved receipt file for auditing daily orders.</a:t>
            </a:r>
            <a:endParaRPr/>
          </a:p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15-10-2026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Spice Garden">
      <a:dk1>
        <a:srgbClr val="2B1B17"/>
      </a:dk1>
      <a:lt1>
        <a:srgbClr val="FFFFFF"/>
      </a:lt1>
      <a:dk2>
        <a:srgbClr val="7A1F2B"/>
      </a:dk2>
      <a:lt2>
        <a:srgbClr val="FFF6E8"/>
      </a:lt2>
      <a:accent1>
        <a:srgbClr val="8E1B2E"/>
      </a:accent1>
      <a:accent2>
        <a:srgbClr val="E9A21B"/>
      </a:accent2>
      <a:accent3>
        <a:srgbClr val="2F7D4F"/>
      </a:accent3>
      <a:accent4>
        <a:srgbClr val="C8553D"/>
      </a:accent4>
      <a:accent5>
        <a:srgbClr val="6B4423"/>
      </a:accent5>
      <a:accent6>
        <a:srgbClr val="F2C14E"/>
      </a:accent6>
      <a:hlink>
        <a:srgbClr val="8E1B2E"/>
      </a:hlink>
      <a:folHlink>
        <a:srgbClr val="6B442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